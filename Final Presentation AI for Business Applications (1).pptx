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8229600" cx="14630400"/>
  <p:notesSz cx="8229600" cy="14630400"/>
  <p:embeddedFontLst>
    <p:embeddedFont>
      <p:font typeface="Alexandria Medium"/>
      <p:regular r:id="rId12"/>
      <p:bold r:id="rId13"/>
    </p:embeddedFont>
    <p:embeddedFont>
      <p:font typeface="Alexandria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h+kRYsr/2gbgAYMReWptO+Z+1k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AlexandriaMedium-bold.fntdata"/><Relationship Id="rId12" Type="http://schemas.openxmlformats.org/officeDocument/2006/relationships/font" Target="fonts/AlexandriaMedium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Alexandria-bold.fntdata"/><Relationship Id="rId14" Type="http://schemas.openxmlformats.org/officeDocument/2006/relationships/font" Target="fonts/Alexandria-regular.fntdata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" name="Google Shape;33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4c9cc20fe6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g34c9cc20fe6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" name="Google Shape;39;g34c9cc20fe6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4c9cc20fe6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g34c9cc20fe6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" name="Google Shape;48;g34c9cc20fe6_0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56cd81964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g356cd81964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" name="Google Shape;57;g356cd819640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6db81e97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356db81e97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" name="Google Shape;65;g356db81e97f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6db81e97f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356db81e97f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g356db81e97f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56ed3756e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56ed3756e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56ed3756e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4d1f1bba8b_0_161"/>
          <p:cNvSpPr txBox="1"/>
          <p:nvPr>
            <p:ph idx="10" type="dt"/>
          </p:nvPr>
        </p:nvSpPr>
        <p:spPr>
          <a:xfrm>
            <a:off x="365760" y="5085080"/>
            <a:ext cx="17070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50" lIns="73150" spcFirstLastPara="1" rIns="73150" wrap="square" tIns="365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g34d1f1bba8b_0_161"/>
          <p:cNvSpPr txBox="1"/>
          <p:nvPr>
            <p:ph idx="11" type="ftr"/>
          </p:nvPr>
        </p:nvSpPr>
        <p:spPr>
          <a:xfrm>
            <a:off x="2499360" y="5085080"/>
            <a:ext cx="2316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50" lIns="73150" spcFirstLastPara="1" rIns="73150" wrap="square" tIns="3655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g34d1f1bba8b_0_161"/>
          <p:cNvSpPr txBox="1"/>
          <p:nvPr>
            <p:ph idx="12" type="sldNum"/>
          </p:nvPr>
        </p:nvSpPr>
        <p:spPr>
          <a:xfrm>
            <a:off x="5242560" y="5085080"/>
            <a:ext cx="17070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50" lIns="73150" spcFirstLastPara="1" rIns="73150" wrap="square" tIns="365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olab.research.google.com/drive/1OgXA5R70UWpOfxjv8GcFYuMNIHySRIin?usp=sharing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0525" y="2886075"/>
            <a:ext cx="6229350" cy="245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g34c9cc20fe6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88538" y="2490080"/>
            <a:ext cx="5381213" cy="3587475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g34c9cc20fe6_0_16"/>
          <p:cNvSpPr/>
          <p:nvPr/>
        </p:nvSpPr>
        <p:spPr>
          <a:xfrm>
            <a:off x="673265" y="2006193"/>
            <a:ext cx="130428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750"/>
              <a:buFont typeface="Nobile"/>
              <a:buNone/>
            </a:pPr>
            <a:r>
              <a:t/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4c9cc20fe6_0_16"/>
          <p:cNvSpPr txBox="1"/>
          <p:nvPr/>
        </p:nvSpPr>
        <p:spPr>
          <a:xfrm>
            <a:off x="1028700" y="1843100"/>
            <a:ext cx="7587000" cy="57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Test Preparation is HARD! Why?</a:t>
            </a:r>
            <a:endParaRPr b="1" i="0" sz="25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i="0" sz="2500" u="none" cap="none" strike="noStrike">
              <a:solidFill>
                <a:srgbClr val="000000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i="0" lang="en-US" sz="2500" u="none" cap="none" strike="noStrike">
                <a:solidFill>
                  <a:srgbClr val="000000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Most people preparing for the GMAT do it alongside full time work / full time uni</a:t>
            </a:r>
            <a:endParaRPr i="0" sz="2500" u="none" cap="none" strike="noStrike">
              <a:solidFill>
                <a:srgbClr val="000000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i="0" sz="2500" u="none" cap="none" strike="noStrike">
              <a:solidFill>
                <a:srgbClr val="000000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i="0" lang="en-US" sz="2500" u="none" cap="none" strike="noStrike">
                <a:solidFill>
                  <a:srgbClr val="000000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Traditional preparation methods require a massive time commitment - at least multiple hours everyday</a:t>
            </a:r>
            <a:endParaRPr i="0" sz="2500" u="none" cap="none" strike="noStrike">
              <a:solidFill>
                <a:srgbClr val="000000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i="0" sz="2500" u="none" cap="none" strike="noStrike">
              <a:solidFill>
                <a:srgbClr val="000000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i="0" lang="en-US" sz="2500" u="none" cap="none" strike="noStrike">
                <a:solidFill>
                  <a:srgbClr val="000000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People don’t feel motivated to study after a long day at work</a:t>
            </a:r>
            <a:r>
              <a:rPr lang="en-US" sz="2500">
                <a:latin typeface="Alexandria Medium"/>
                <a:ea typeface="Alexandria Medium"/>
                <a:cs typeface="Alexandria Medium"/>
                <a:sym typeface="Alexandria Medium"/>
              </a:rPr>
              <a:t> / </a:t>
            </a:r>
            <a:r>
              <a:rPr i="0" lang="en-US" sz="2500" u="none" cap="none" strike="noStrike">
                <a:solidFill>
                  <a:srgbClr val="000000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school</a:t>
            </a:r>
            <a:endParaRPr i="0" sz="2500" u="none" cap="none" strike="noStrike">
              <a:solidFill>
                <a:srgbClr val="000000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i="0" sz="2500" u="none" cap="none" strike="noStrike">
              <a:solidFill>
                <a:srgbClr val="000000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i="0" lang="en-US" sz="2500" u="none" cap="none" strike="noStrike">
                <a:solidFill>
                  <a:srgbClr val="000000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They constantly procrastinate and are inefficient - wasting years of their life - time they could have spent on actual growth</a:t>
            </a:r>
            <a:endParaRPr i="0" sz="2500" u="none" cap="none" strike="noStrike">
              <a:solidFill>
                <a:srgbClr val="000000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</p:txBody>
      </p:sp>
      <p:sp>
        <p:nvSpPr>
          <p:cNvPr id="44" name="Google Shape;44;g34c9cc20fe6_0_16"/>
          <p:cNvSpPr/>
          <p:nvPr/>
        </p:nvSpPr>
        <p:spPr>
          <a:xfrm>
            <a:off x="600925" y="677125"/>
            <a:ext cx="10497600" cy="708900"/>
          </a:xfrm>
          <a:prstGeom prst="rect">
            <a:avLst/>
          </a:prstGeom>
          <a:solidFill>
            <a:srgbClr val="1C56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Alexandria"/>
              <a:buNone/>
            </a:pPr>
            <a:r>
              <a:rPr b="1" i="0" lang="en-US" sz="4450" u="none" cap="none" strike="noStrike">
                <a:solidFill>
                  <a:schemeClr val="lt1"/>
                </a:solidFill>
                <a:latin typeface="Alexandria"/>
                <a:ea typeface="Alexandria"/>
                <a:cs typeface="Alexandria"/>
                <a:sym typeface="Alexandria"/>
              </a:rPr>
              <a:t>The Problem</a:t>
            </a:r>
            <a:endParaRPr b="0" i="0" sz="44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4c9cc20fe6_0_22"/>
          <p:cNvSpPr/>
          <p:nvPr/>
        </p:nvSpPr>
        <p:spPr>
          <a:xfrm>
            <a:off x="673265" y="2006193"/>
            <a:ext cx="130428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750"/>
              <a:buFont typeface="Nobile"/>
              <a:buNone/>
            </a:pPr>
            <a:r>
              <a:t/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g34c9cc20fe6_0_22"/>
          <p:cNvSpPr txBox="1"/>
          <p:nvPr/>
        </p:nvSpPr>
        <p:spPr>
          <a:xfrm>
            <a:off x="1028700" y="1843100"/>
            <a:ext cx="9612600" cy="57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2B2C30"/>
                </a:solidFill>
                <a:latin typeface="Alexandria"/>
                <a:ea typeface="Alexandria"/>
                <a:cs typeface="Alexandria"/>
                <a:sym typeface="Alexandria"/>
              </a:rPr>
              <a:t>Testopia</a:t>
            </a:r>
            <a:r>
              <a:rPr b="1" i="0" lang="en-US" sz="2500" u="none" cap="none" strike="noStrike">
                <a:solidFill>
                  <a:srgbClr val="2B2C30"/>
                </a:solidFill>
                <a:latin typeface="Alexandria"/>
                <a:ea typeface="Alexandria"/>
                <a:cs typeface="Alexandria"/>
                <a:sym typeface="Alexandria"/>
              </a:rPr>
              <a:t>, test prep you want to do.</a:t>
            </a:r>
            <a:endParaRPr b="1" i="0" sz="2500" u="none" cap="none" strike="noStrike">
              <a:solidFill>
                <a:srgbClr val="2B2C30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i="0" sz="2500" u="none" cap="none" strike="noStrike">
              <a:solidFill>
                <a:srgbClr val="2B2C30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i="0" lang="en-US" sz="2500" u="none" cap="none" strike="noStrike">
                <a:solidFill>
                  <a:srgbClr val="2B2C30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An app </a:t>
            </a:r>
            <a:r>
              <a:rPr lang="en-US" sz="2500">
                <a:solidFill>
                  <a:srgbClr val="2B2C30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that </a:t>
            </a:r>
            <a:r>
              <a:rPr i="0" lang="en-US" sz="2500" u="none" cap="none" strike="noStrike">
                <a:solidFill>
                  <a:srgbClr val="2B2C30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gamifies competitive exam preparation, with different levels, reward points, and leaderboards. </a:t>
            </a:r>
            <a:endParaRPr i="0" sz="2500" u="none" cap="none" strike="noStrike">
              <a:solidFill>
                <a:srgbClr val="2B2C30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i="0" sz="2500" u="none" cap="none" strike="noStrike">
              <a:solidFill>
                <a:srgbClr val="2B2C30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i="0" lang="en-US" sz="2500" u="none" cap="none" strike="noStrike">
                <a:solidFill>
                  <a:srgbClr val="2B2C30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An app </a:t>
            </a:r>
            <a:r>
              <a:rPr lang="en-US" sz="2500">
                <a:solidFill>
                  <a:srgbClr val="2B2C30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that </a:t>
            </a:r>
            <a:r>
              <a:rPr i="0" lang="en-US" sz="2500" u="none" cap="none" strike="noStrike">
                <a:solidFill>
                  <a:srgbClr val="2B2C30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customises your study plan, coursework and difficulty with AI.</a:t>
            </a:r>
            <a:endParaRPr i="0" sz="2500" u="none" cap="none" strike="noStrike">
              <a:solidFill>
                <a:srgbClr val="2B2C30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i="0" sz="2500" u="none" cap="none" strike="noStrike">
              <a:solidFill>
                <a:srgbClr val="2B2C30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i="0" lang="en-US" sz="2500" u="none" cap="none" strike="noStrike">
                <a:solidFill>
                  <a:srgbClr val="2B2C30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An app </a:t>
            </a:r>
            <a:r>
              <a:rPr lang="en-US" sz="2500">
                <a:solidFill>
                  <a:srgbClr val="2B2C30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that </a:t>
            </a:r>
            <a:r>
              <a:rPr i="0" lang="en-US" sz="2500" u="none" cap="none" strike="noStrike">
                <a:solidFill>
                  <a:srgbClr val="2B2C30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you can use for 5-10 minutes a day, ensuring sustainability and democratising access.</a:t>
            </a:r>
            <a:endParaRPr i="0" sz="2500" u="none" cap="none" strike="noStrike">
              <a:solidFill>
                <a:srgbClr val="2B2C30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i="0" sz="2500" u="none" cap="none" strike="noStrike">
              <a:solidFill>
                <a:srgbClr val="2B2C30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i="0" lang="en-US" sz="2500" u="none" cap="none" strike="noStrike">
                <a:solidFill>
                  <a:srgbClr val="2B2C30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An app which makes test prep accessible, easy, and fun.</a:t>
            </a:r>
            <a:endParaRPr i="0" sz="2500" u="none" cap="none" strike="noStrike">
              <a:solidFill>
                <a:srgbClr val="2B2C30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</p:txBody>
      </p:sp>
      <p:sp>
        <p:nvSpPr>
          <p:cNvPr id="52" name="Google Shape;52;g34c9cc20fe6_0_22"/>
          <p:cNvSpPr/>
          <p:nvPr/>
        </p:nvSpPr>
        <p:spPr>
          <a:xfrm>
            <a:off x="600925" y="677125"/>
            <a:ext cx="10497600" cy="708900"/>
          </a:xfrm>
          <a:prstGeom prst="rect">
            <a:avLst/>
          </a:prstGeom>
          <a:solidFill>
            <a:srgbClr val="1C56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Alexandria"/>
              <a:buNone/>
            </a:pPr>
            <a:r>
              <a:rPr b="1" i="0" lang="en-US" sz="4450" u="none" cap="none" strike="noStrike">
                <a:solidFill>
                  <a:schemeClr val="lt1"/>
                </a:solidFill>
                <a:latin typeface="Alexandria"/>
                <a:ea typeface="Alexandria"/>
                <a:cs typeface="Alexandria"/>
                <a:sym typeface="Alexandria"/>
              </a:rPr>
              <a:t>The Solution</a:t>
            </a:r>
            <a:endParaRPr b="0" i="0" sz="44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g34c9cc20fe6_0_22"/>
          <p:cNvSpPr/>
          <p:nvPr/>
        </p:nvSpPr>
        <p:spPr>
          <a:xfrm>
            <a:off x="10705122" y="3155152"/>
            <a:ext cx="3137581" cy="4668497"/>
          </a:xfrm>
          <a:custGeom>
            <a:rect b="b" l="l" r="r" t="t"/>
            <a:pathLst>
              <a:path extrusionOk="0" h="4599504" w="3024174">
                <a:moveTo>
                  <a:pt x="0" y="0"/>
                </a:moveTo>
                <a:lnTo>
                  <a:pt x="3024174" y="0"/>
                </a:lnTo>
                <a:lnTo>
                  <a:pt x="3024174" y="4599504"/>
                </a:lnTo>
                <a:lnTo>
                  <a:pt x="0" y="45995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56cd819640_0_0"/>
          <p:cNvSpPr/>
          <p:nvPr/>
        </p:nvSpPr>
        <p:spPr>
          <a:xfrm>
            <a:off x="673265" y="2006193"/>
            <a:ext cx="130428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750"/>
              <a:buFont typeface="Nobile"/>
              <a:buNone/>
            </a:pPr>
            <a:r>
              <a:t/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g356cd819640_0_0"/>
          <p:cNvSpPr txBox="1"/>
          <p:nvPr/>
        </p:nvSpPr>
        <p:spPr>
          <a:xfrm>
            <a:off x="1058125" y="1814125"/>
            <a:ext cx="10040400" cy="57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2B2C30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How do we build a question bank with gamified versions of the GMAT questions?</a:t>
            </a:r>
            <a:endParaRPr sz="2500">
              <a:solidFill>
                <a:srgbClr val="2B2C30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2B2C30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2B2C30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How do we build this question bank at scale?</a:t>
            </a:r>
            <a:endParaRPr sz="2500">
              <a:solidFill>
                <a:srgbClr val="2B2C30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2B2C30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2B2C30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How do we optimise difficulty levels to suit different people?</a:t>
            </a:r>
            <a:endParaRPr sz="2500">
              <a:solidFill>
                <a:srgbClr val="2B2C30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2B2C30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2B2C30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How do we assess if concepts tested with the new questions are </a:t>
            </a:r>
            <a:r>
              <a:rPr lang="en-US" sz="2500">
                <a:solidFill>
                  <a:srgbClr val="2B2C30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similar</a:t>
            </a:r>
            <a:r>
              <a:rPr lang="en-US" sz="2500">
                <a:solidFill>
                  <a:srgbClr val="2B2C30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 to the concepts tested on the GMAT?</a:t>
            </a:r>
            <a:endParaRPr sz="2500">
              <a:solidFill>
                <a:srgbClr val="2B2C30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2B2C30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2B2C30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B2C30"/>
                </a:solidFill>
                <a:latin typeface="Alexandria"/>
                <a:ea typeface="Alexandria"/>
                <a:cs typeface="Alexandria"/>
                <a:sym typeface="Alexandria"/>
              </a:rPr>
              <a:t>Answer: AI tools</a:t>
            </a:r>
            <a:endParaRPr b="1" sz="2500">
              <a:solidFill>
                <a:srgbClr val="2B2C30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2B2C30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2B2C30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</p:txBody>
      </p:sp>
      <p:sp>
        <p:nvSpPr>
          <p:cNvPr id="61" name="Google Shape;61;g356cd819640_0_0"/>
          <p:cNvSpPr/>
          <p:nvPr/>
        </p:nvSpPr>
        <p:spPr>
          <a:xfrm>
            <a:off x="600925" y="677125"/>
            <a:ext cx="10497600" cy="708900"/>
          </a:xfrm>
          <a:prstGeom prst="rect">
            <a:avLst/>
          </a:prstGeom>
          <a:solidFill>
            <a:srgbClr val="1C56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Alexandria"/>
              <a:buNone/>
            </a:pPr>
            <a:r>
              <a:rPr b="1" i="0" lang="en-US" sz="4450" u="none" cap="none" strike="noStrike">
                <a:solidFill>
                  <a:schemeClr val="lt1"/>
                </a:solidFill>
                <a:latin typeface="Alexandria"/>
                <a:ea typeface="Alexandria"/>
                <a:cs typeface="Alexandria"/>
                <a:sym typeface="Alexandria"/>
              </a:rPr>
              <a:t>The </a:t>
            </a:r>
            <a:r>
              <a:rPr b="1" lang="en-US" sz="4450">
                <a:solidFill>
                  <a:schemeClr val="lt1"/>
                </a:solidFill>
                <a:latin typeface="Alexandria"/>
                <a:ea typeface="Alexandria"/>
                <a:cs typeface="Alexandria"/>
                <a:sym typeface="Alexandria"/>
              </a:rPr>
              <a:t>Challenge</a:t>
            </a:r>
            <a:endParaRPr b="0" i="0" sz="44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56db81e97f_0_0"/>
          <p:cNvSpPr/>
          <p:nvPr/>
        </p:nvSpPr>
        <p:spPr>
          <a:xfrm>
            <a:off x="673265" y="2006193"/>
            <a:ext cx="130428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750"/>
              <a:buFont typeface="Nobile"/>
              <a:buNone/>
            </a:pPr>
            <a:r>
              <a:t/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g356db81e97f_0_0"/>
          <p:cNvSpPr txBox="1"/>
          <p:nvPr/>
        </p:nvSpPr>
        <p:spPr>
          <a:xfrm>
            <a:off x="1246025" y="1596800"/>
            <a:ext cx="12894900" cy="31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B2C30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Data set: </a:t>
            </a:r>
            <a:endParaRPr sz="2000">
              <a:solidFill>
                <a:srgbClr val="2B2C30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2000"/>
              <a:buFont typeface="Alexandria Medium"/>
              <a:buChar char="-"/>
            </a:pPr>
            <a:r>
              <a:rPr lang="en-US" sz="2000">
                <a:solidFill>
                  <a:srgbClr val="2B2C30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50 GMAT </a:t>
            </a:r>
            <a:r>
              <a:rPr lang="en-US" sz="2000">
                <a:solidFill>
                  <a:srgbClr val="2B2C30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quantitative questions, 50 “Level 1” basic gamified questions, 50 “Level 2” hard gamified questions</a:t>
            </a:r>
            <a:endParaRPr sz="2000">
              <a:solidFill>
                <a:srgbClr val="2B2C30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2000"/>
              <a:buFont typeface="Alexandria Medium"/>
              <a:buChar char="-"/>
            </a:pPr>
            <a:r>
              <a:rPr lang="en-US" sz="2000">
                <a:solidFill>
                  <a:srgbClr val="2B2C30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Classification of skills tested in the different questions generated</a:t>
            </a:r>
            <a:endParaRPr sz="2000">
              <a:solidFill>
                <a:srgbClr val="2B2C30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B2C30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B2C30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Evaluation: </a:t>
            </a:r>
            <a:endParaRPr sz="2000">
              <a:solidFill>
                <a:srgbClr val="2B2C30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2000"/>
              <a:buFont typeface="Alexandria Medium"/>
              <a:buChar char="-"/>
            </a:pPr>
            <a:r>
              <a:rPr lang="en-US" sz="2000">
                <a:solidFill>
                  <a:srgbClr val="2B2C30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Same skills tested in gamified versions of questions</a:t>
            </a:r>
            <a:endParaRPr sz="2000">
              <a:solidFill>
                <a:srgbClr val="2B2C30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2000"/>
              <a:buFont typeface="Alexandria Medium"/>
              <a:buChar char="-"/>
            </a:pPr>
            <a:r>
              <a:rPr lang="en-US" sz="2000">
                <a:solidFill>
                  <a:srgbClr val="2B2C30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Relevance and appropriate difficulty of gamified questions</a:t>
            </a:r>
            <a:endParaRPr sz="2000">
              <a:solidFill>
                <a:srgbClr val="2B2C30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</p:txBody>
      </p:sp>
      <p:sp>
        <p:nvSpPr>
          <p:cNvPr id="69" name="Google Shape;69;g356db81e97f_0_0"/>
          <p:cNvSpPr/>
          <p:nvPr/>
        </p:nvSpPr>
        <p:spPr>
          <a:xfrm>
            <a:off x="600925" y="677125"/>
            <a:ext cx="10497600" cy="708900"/>
          </a:xfrm>
          <a:prstGeom prst="rect">
            <a:avLst/>
          </a:prstGeom>
          <a:solidFill>
            <a:srgbClr val="1C56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Alexandria"/>
              <a:buNone/>
            </a:pPr>
            <a:r>
              <a:rPr b="1" lang="en-US" sz="4450">
                <a:solidFill>
                  <a:schemeClr val="lt1"/>
                </a:solidFill>
                <a:latin typeface="Alexandria"/>
                <a:ea typeface="Alexandria"/>
                <a:cs typeface="Alexandria"/>
                <a:sym typeface="Alexandria"/>
              </a:rPr>
              <a:t>Our Process</a:t>
            </a:r>
            <a:endParaRPr b="1" i="0" sz="4450" u="none" cap="none" strike="noStrike">
              <a:solidFill>
                <a:schemeClr val="lt1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0" name="Google Shape;70;g356db81e97f_0_0"/>
          <p:cNvSpPr/>
          <p:nvPr/>
        </p:nvSpPr>
        <p:spPr>
          <a:xfrm>
            <a:off x="673275" y="5015425"/>
            <a:ext cx="6426300" cy="5283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Alexandria"/>
              <a:buNone/>
            </a:pPr>
            <a:r>
              <a:rPr b="1" lang="en-US" sz="3000">
                <a:solidFill>
                  <a:schemeClr val="lt1"/>
                </a:solidFill>
                <a:latin typeface="Alexandria"/>
                <a:ea typeface="Alexandria"/>
                <a:cs typeface="Alexandria"/>
                <a:sym typeface="Alexandria"/>
              </a:rPr>
              <a:t>Challenges Encountered</a:t>
            </a:r>
            <a:endParaRPr b="1" i="0" sz="3000" u="none" cap="none" strike="noStrike">
              <a:solidFill>
                <a:schemeClr val="lt1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1" name="Google Shape;71;g356db81e97f_0_0"/>
          <p:cNvSpPr txBox="1"/>
          <p:nvPr/>
        </p:nvSpPr>
        <p:spPr>
          <a:xfrm>
            <a:off x="1246025" y="5578175"/>
            <a:ext cx="5940300" cy="3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B2C30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Initial output gave questions that were too simple</a:t>
            </a:r>
            <a:endParaRPr sz="2000">
              <a:solidFill>
                <a:srgbClr val="2B2C30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B2C30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B2C30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Output was unformatted</a:t>
            </a:r>
            <a:endParaRPr sz="2000">
              <a:solidFill>
                <a:srgbClr val="2B2C30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</p:txBody>
      </p:sp>
      <p:sp>
        <p:nvSpPr>
          <p:cNvPr id="72" name="Google Shape;72;g356db81e97f_0_0"/>
          <p:cNvSpPr/>
          <p:nvPr/>
        </p:nvSpPr>
        <p:spPr>
          <a:xfrm>
            <a:off x="7548450" y="5015425"/>
            <a:ext cx="6592500" cy="5283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Alexandria"/>
              <a:buNone/>
            </a:pPr>
            <a:r>
              <a:rPr b="1" lang="en-US" sz="3000">
                <a:solidFill>
                  <a:schemeClr val="lt1"/>
                </a:solidFill>
                <a:latin typeface="Alexandria"/>
                <a:ea typeface="Alexandria"/>
                <a:cs typeface="Alexandria"/>
                <a:sym typeface="Alexandria"/>
              </a:rPr>
              <a:t>Actions to Mitigate</a:t>
            </a:r>
            <a:endParaRPr b="1" i="0" sz="3000" u="none" cap="none" strike="noStrike">
              <a:solidFill>
                <a:schemeClr val="lt1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3" name="Google Shape;73;g356db81e97f_0_0"/>
          <p:cNvSpPr txBox="1"/>
          <p:nvPr/>
        </p:nvSpPr>
        <p:spPr>
          <a:xfrm>
            <a:off x="8200650" y="5643625"/>
            <a:ext cx="5940300" cy="3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B2C30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Tailored prompt to provide 2x levels of gamified questions (easy, hard)</a:t>
            </a:r>
            <a:endParaRPr sz="2000">
              <a:solidFill>
                <a:srgbClr val="2B2C30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B2C30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B2C30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Specified the required format in prompt</a:t>
            </a:r>
            <a:endParaRPr sz="2000">
              <a:solidFill>
                <a:srgbClr val="2B2C30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56db81e97f_0_9"/>
          <p:cNvSpPr/>
          <p:nvPr/>
        </p:nvSpPr>
        <p:spPr>
          <a:xfrm>
            <a:off x="673265" y="2006193"/>
            <a:ext cx="130428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750"/>
              <a:buFont typeface="Nobile"/>
              <a:buNone/>
            </a:pPr>
            <a:r>
              <a:t/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g356db81e97f_0_9"/>
          <p:cNvSpPr/>
          <p:nvPr/>
        </p:nvSpPr>
        <p:spPr>
          <a:xfrm>
            <a:off x="600925" y="677125"/>
            <a:ext cx="10497600" cy="708900"/>
          </a:xfrm>
          <a:prstGeom prst="rect">
            <a:avLst/>
          </a:prstGeom>
          <a:solidFill>
            <a:srgbClr val="1C56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Alexandria"/>
              <a:buNone/>
            </a:pPr>
            <a:r>
              <a:rPr b="1" lang="en-US" sz="4450">
                <a:solidFill>
                  <a:schemeClr val="lt1"/>
                </a:solidFill>
                <a:latin typeface="Alexandria"/>
                <a:ea typeface="Alexandria"/>
                <a:cs typeface="Alexandria"/>
                <a:sym typeface="Alexandria"/>
              </a:rPr>
              <a:t>Demo!</a:t>
            </a:r>
            <a:endParaRPr b="0" i="0" sz="44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g356db81e97f_0_9"/>
          <p:cNvSpPr txBox="1"/>
          <p:nvPr/>
        </p:nvSpPr>
        <p:spPr>
          <a:xfrm>
            <a:off x="4225200" y="3173025"/>
            <a:ext cx="6180000" cy="3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u="sng">
                <a:solidFill>
                  <a:schemeClr val="hlink"/>
                </a:solidFill>
                <a:hlinkClick r:id="rId3"/>
              </a:rPr>
              <a:t>https://colab.research.google.com/drive/1OgXA5R70UWpOfxjv8GcFYuMNIHySRIin?usp=sharing</a:t>
            </a:r>
            <a:endParaRPr sz="3600">
              <a:solidFill>
                <a:srgbClr val="2B2C30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g356ed3756e2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44350"/>
            <a:ext cx="11122951" cy="59022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356ed3756e2_0_0"/>
          <p:cNvSpPr/>
          <p:nvPr/>
        </p:nvSpPr>
        <p:spPr>
          <a:xfrm>
            <a:off x="625350" y="432925"/>
            <a:ext cx="10497600" cy="708900"/>
          </a:xfrm>
          <a:prstGeom prst="rect">
            <a:avLst/>
          </a:prstGeom>
          <a:solidFill>
            <a:srgbClr val="1C56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Alexandria"/>
              <a:buNone/>
            </a:pPr>
            <a:r>
              <a:rPr b="1" lang="en-US" sz="4450">
                <a:solidFill>
                  <a:schemeClr val="lt1"/>
                </a:solidFill>
                <a:latin typeface="Alexandria"/>
                <a:ea typeface="Alexandria"/>
                <a:cs typeface="Alexandria"/>
                <a:sym typeface="Alexandria"/>
              </a:rPr>
              <a:t>Evaluation</a:t>
            </a:r>
            <a:endParaRPr b="0" i="0" sz="44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56ed3756e2_0_0"/>
          <p:cNvSpPr txBox="1"/>
          <p:nvPr/>
        </p:nvSpPr>
        <p:spPr>
          <a:xfrm>
            <a:off x="11379800" y="432925"/>
            <a:ext cx="3000000" cy="78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Evaluation prompt :</a:t>
            </a:r>
            <a:endParaRPr b="1"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You are an expert GMAT Quant evaluator.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You are given a CSV file with two columns: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Column A: Original GMAT Question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Column C: gpt_output (the gamified version of the original GMAT question)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Your tasks are: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 each row, identify the quant concept being tested in both the original and gamified question. Examples: Speed/Distance/Time, Percentages, Geometry - Area, Angles, Basic Division, Square Root, Algebra, Averages, etc.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Check if both questions are testing the same underlying quant concept.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 three new columns to the data: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GMAT Concept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Gamified Concept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Robust Concept Evaluation: say "Same Concept" or "Different Concept"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2025-02-01T18:05:01Z</dcterms:created>
  <dc:creator>PptxGenJS</dc:creator>
</cp:coreProperties>
</file>